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72" r:id="rId1"/>
  </p:sldMasterIdLst>
  <p:notesMasterIdLst>
    <p:notesMasterId r:id="rId2"/>
  </p:notesMasterIdLst>
  <p:sldIdLst>
    <p:sldId id="311" r:id="rId3"/>
    <p:sldId id="312" r:id="rId4"/>
    <p:sldId id="313" r:id="rId5"/>
    <p:sldId id="314" r:id="rId6"/>
    <p:sldId id="315" r:id="rId7"/>
    <p:sldId id="316" r:id="rId8"/>
    <p:sldId id="317" r:id="rId9"/>
    <p:sldId id="318" r:id="rId10"/>
    <p:sldId id="319" r:id="rId11"/>
    <p:sldId id="320" r:id="rId12"/>
    <p:sldId id="322" r:id="rId13"/>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4" name=""/>
        <p:cNvGrpSpPr/>
        <p:nvPr/>
      </p:nvGrpSpPr>
      <p:grpSpPr>
        <a:xfrm>
          <a:off x="0" y="0"/>
          <a:ext cx="0" cy="0"/>
          <a:chOff x="0" y="0"/>
          <a:chExt cx="0" cy="0"/>
        </a:xfrm>
      </p:grpSpPr>
      <p:sp>
        <p:nvSpPr>
          <p:cNvPr id="1048696"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697"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18-08-2025</a:t>
            </a:fld>
            <a:endParaRPr lang="en-IN"/>
          </a:p>
        </p:txBody>
      </p:sp>
      <p:sp>
        <p:nvSpPr>
          <p:cNvPr id="1048698"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699"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0"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01"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48260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2667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1" name=""/>
        <p:cNvGrpSpPr/>
        <p:nvPr/>
      </p:nvGrpSpPr>
      <p:grpSpPr>
        <a:xfrm>
          <a:off x="0" y="0"/>
          <a:ext cx="0" cy="0"/>
          <a:chOff x="0" y="0"/>
          <a:chExt cx="0" cy="0"/>
        </a:xfrm>
      </p:grpSpPr>
      <p:sp>
        <p:nvSpPr>
          <p:cNvPr id="1048682"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83" name="Holder 3"/>
          <p:cNvSpPr>
            <a:spLocks noGrp="1"/>
          </p:cNvSpPr>
          <p:nvPr>
            <p:ph type="body" idx="1"/>
          </p:nvPr>
        </p:nvSpPr>
        <p:spPr>
          <a:xfrm>
            <a:off x="609600" y="1577340"/>
            <a:ext cx="10972800" cy="266700"/>
          </a:xfrm>
        </p:spPr>
        <p:txBody>
          <a:bodyPr bIns="0" lIns="0" rIns="0" tIns="0"/>
          <a:p/>
        </p:txBody>
      </p:sp>
      <p:sp>
        <p:nvSpPr>
          <p:cNvPr id="1048684"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5"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86"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2" name=""/>
        <p:cNvGrpSpPr/>
        <p:nvPr/>
      </p:nvGrpSpPr>
      <p:grpSpPr>
        <a:xfrm>
          <a:off x="0" y="0"/>
          <a:ext cx="0" cy="0"/>
          <a:chOff x="0" y="0"/>
          <a:chExt cx="0" cy="0"/>
        </a:xfrm>
      </p:grpSpPr>
      <p:sp>
        <p:nvSpPr>
          <p:cNvPr id="1048687"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88" name="Holder 3"/>
          <p:cNvSpPr>
            <a:spLocks noGrp="1"/>
          </p:cNvSpPr>
          <p:nvPr>
            <p:ph sz="half" idx="2"/>
          </p:nvPr>
        </p:nvSpPr>
        <p:spPr>
          <a:xfrm>
            <a:off x="609600" y="1577340"/>
            <a:ext cx="5303520" cy="266700"/>
          </a:xfrm>
          <a:prstGeom prst="rect"/>
        </p:spPr>
        <p:txBody>
          <a:bodyPr bIns="0" lIns="0" rIns="0" tIns="0" wrap="square">
            <a:spAutoFit/>
          </a:bodyPr>
          <a:p/>
        </p:txBody>
      </p:sp>
      <p:sp>
        <p:nvSpPr>
          <p:cNvPr id="1048689" name="Holder 4"/>
          <p:cNvSpPr>
            <a:spLocks noGrp="1"/>
          </p:cNvSpPr>
          <p:nvPr>
            <p:ph sz="half" idx="3"/>
          </p:nvPr>
        </p:nvSpPr>
        <p:spPr>
          <a:xfrm>
            <a:off x="6278880" y="1577340"/>
            <a:ext cx="5303520" cy="266700"/>
          </a:xfrm>
          <a:prstGeom prst="rect"/>
        </p:spPr>
        <p:txBody>
          <a:bodyPr bIns="0" lIns="0" rIns="0" tIns="0" wrap="square">
            <a:spAutoFit/>
          </a:bodyPr>
          <a:p/>
        </p:txBody>
      </p:sp>
      <p:sp>
        <p:nvSpPr>
          <p:cNvPr id="1048690"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1"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2"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4" name=""/>
        <p:cNvGrpSpPr/>
        <p:nvPr/>
      </p:nvGrpSpPr>
      <p:grpSpPr>
        <a:xfrm>
          <a:off x="0" y="0"/>
          <a:ext cx="0" cy="0"/>
          <a:chOff x="0" y="0"/>
          <a:chExt cx="0" cy="0"/>
        </a:xfrm>
      </p:grpSpPr>
      <p:sp>
        <p:nvSpPr>
          <p:cNvPr id="1048606"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3" name=""/>
        <p:cNvGrpSpPr/>
        <p:nvPr/>
      </p:nvGrpSpPr>
      <p:grpSpPr>
        <a:xfrm>
          <a:off x="0" y="0"/>
          <a:ext cx="0" cy="0"/>
          <a:chOff x="0" y="0"/>
          <a:chExt cx="0" cy="0"/>
        </a:xfrm>
      </p:grpSpPr>
      <p:sp>
        <p:nvSpPr>
          <p:cNvPr id="1048693"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4"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5"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1523999" y="19665"/>
            <a:ext cx="7629525" cy="1001556"/>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02" name="TextBox 13"/>
          <p:cNvSpPr txBox="1"/>
          <p:nvPr/>
        </p:nvSpPr>
        <p:spPr>
          <a:xfrm>
            <a:off x="104417" y="2406966"/>
            <a:ext cx="12107243" cy="1869441"/>
          </a:xfrm>
          <a:prstGeom prst="rect"/>
          <a:noFill/>
        </p:spPr>
        <p:txBody>
          <a:bodyPr anchor="t" bIns="45720" lIns="91440" rIns="91440" rtlCol="0" tIns="45720" wrap="square">
            <a:spAutoFit/>
          </a:bodyPr>
          <a:p>
            <a:r>
              <a:rPr dirty="0" sz="2400" lang="en-US"/>
              <a:t>STUDENT NAME: </a:t>
            </a:r>
            <a:r>
              <a:rPr dirty="0" sz="2400" lang="en-US"/>
              <a:t>G</a:t>
            </a:r>
            <a:r>
              <a:rPr dirty="0" sz="2400" lang="en-US"/>
              <a:t>.</a:t>
            </a:r>
            <a:r>
              <a:rPr dirty="0" sz="2400" lang="en-US"/>
              <a:t>M</a:t>
            </a:r>
            <a:r>
              <a:rPr dirty="0" sz="2400" lang="en-US"/>
              <a:t>A</a:t>
            </a:r>
            <a:r>
              <a:rPr dirty="0" sz="2400" lang="en-US"/>
              <a:t>M</a:t>
            </a:r>
            <a:r>
              <a:rPr dirty="0" sz="2400" lang="en-US"/>
              <a:t>T</a:t>
            </a:r>
            <a:r>
              <a:rPr dirty="0" sz="2400" lang="en-US"/>
              <a:t>H</a:t>
            </a:r>
            <a:r>
              <a:rPr dirty="0" sz="2400" lang="en-US"/>
              <a:t>A</a:t>
            </a:r>
            <a:endParaRPr altLang="en-US" lang="zh-CN"/>
          </a:p>
          <a:p>
            <a:r>
              <a:rPr dirty="0" sz="2400" lang="en-US"/>
              <a:t>REGISTER NO AND NMID: 68F102F04B169EBB54B4AB24673AC92F</a:t>
            </a:r>
            <a:r>
              <a:rPr dirty="0" sz="2400" lang="en-US"/>
              <a:t>/</a:t>
            </a:r>
            <a:r>
              <a:rPr dirty="0" sz="2400" lang="en-US"/>
              <a:t>2</a:t>
            </a:r>
            <a:r>
              <a:rPr dirty="0" sz="2400" lang="en-US"/>
              <a:t>2</a:t>
            </a:r>
            <a:r>
              <a:rPr dirty="0" sz="2400" lang="en-US"/>
              <a:t>2</a:t>
            </a:r>
            <a:r>
              <a:rPr dirty="0" sz="2400" lang="en-US"/>
              <a:t>4</a:t>
            </a:r>
            <a:r>
              <a:rPr dirty="0" sz="2400" lang="en-US"/>
              <a:t>0</a:t>
            </a:r>
            <a:r>
              <a:rPr dirty="0" sz="2400" lang="en-US"/>
              <a:t>3</a:t>
            </a:r>
            <a:r>
              <a:rPr dirty="0" sz="2400" lang="en-US"/>
              <a:t>4</a:t>
            </a:r>
            <a:r>
              <a:rPr dirty="0" sz="2400" lang="en-US"/>
              <a:t>2</a:t>
            </a:r>
            <a:r>
              <a:rPr dirty="0" sz="2400" lang="en-US"/>
              <a:t>0</a:t>
            </a:r>
            <a:endParaRPr dirty="0" sz="2400" lang="en-US">
              <a:cs typeface="Calibri"/>
            </a:endParaRPr>
          </a:p>
          <a:p>
            <a:r>
              <a:rPr dirty="0" sz="2400" lang="en-US"/>
              <a:t>DEPARTMENT: </a:t>
            </a:r>
            <a:r>
              <a:rPr dirty="0" sz="2400" lang="en-US"/>
              <a:t>B</a:t>
            </a:r>
            <a:r>
              <a:rPr dirty="0" sz="2400" lang="en-US"/>
              <a:t>.</a:t>
            </a:r>
            <a:r>
              <a:rPr dirty="0" sz="2400" lang="en-US"/>
              <a:t>S</a:t>
            </a:r>
            <a:r>
              <a:rPr dirty="0" sz="2400" lang="en-US"/>
              <a:t>C</a:t>
            </a:r>
            <a:r>
              <a:rPr dirty="0" sz="2400" lang="en-US"/>
              <a:t>.</a:t>
            </a:r>
            <a:r>
              <a:rPr dirty="0" sz="2400" lang="en-US"/>
              <a:t>C</a:t>
            </a:r>
            <a:r>
              <a:rPr dirty="0" sz="2400" lang="en-US"/>
              <a:t>O</a:t>
            </a:r>
            <a:r>
              <a:rPr dirty="0" sz="2400" lang="en-US"/>
              <a:t>M</a:t>
            </a:r>
            <a:r>
              <a:rPr dirty="0" sz="2400" lang="en-US"/>
              <a:t>P</a:t>
            </a:r>
            <a:r>
              <a:rPr dirty="0" sz="2400" lang="en-US"/>
              <a:t>U</a:t>
            </a:r>
            <a:r>
              <a:rPr dirty="0" sz="2400" lang="en-US"/>
              <a:t>T</a:t>
            </a:r>
            <a:r>
              <a:rPr dirty="0" sz="2400" lang="en-US"/>
              <a:t>E</a:t>
            </a:r>
            <a:r>
              <a:rPr dirty="0" sz="2400" lang="en-US"/>
              <a:t>R</a:t>
            </a:r>
            <a:r>
              <a:rPr dirty="0" sz="2400" lang="en-US"/>
              <a:t> </a:t>
            </a:r>
            <a:r>
              <a:rPr dirty="0" sz="2400" lang="en-US"/>
              <a:t>S</a:t>
            </a:r>
            <a:r>
              <a:rPr dirty="0" sz="2400" lang="en-US"/>
              <a:t>C</a:t>
            </a:r>
            <a:r>
              <a:rPr dirty="0" sz="2400" lang="en-US"/>
              <a:t>IENCE </a:t>
            </a:r>
            <a:endParaRPr altLang="en-US" lang="zh-CN"/>
          </a:p>
          <a:p>
            <a:r>
              <a:rPr dirty="0" sz="2400" lang="en-US"/>
              <a:t>COLLEGE: </a:t>
            </a:r>
            <a:r>
              <a:rPr dirty="0" sz="2400" lang="en-US"/>
              <a:t>THRUMUR</a:t>
            </a:r>
            <a:r>
              <a:rPr dirty="0" sz="2400" lang="en-US"/>
              <a:t>U</a:t>
            </a:r>
            <a:r>
              <a:rPr dirty="0" sz="2400" lang="en-US"/>
              <a:t>GA</a:t>
            </a:r>
            <a:r>
              <a:rPr dirty="0" sz="2400" lang="en-US"/>
              <a:t>N</a:t>
            </a:r>
            <a:r>
              <a:rPr dirty="0" sz="2400" lang="en-US"/>
              <a:t> </a:t>
            </a:r>
            <a:r>
              <a:rPr dirty="0" sz="2400" lang="en-US"/>
              <a:t>A</a:t>
            </a:r>
            <a:r>
              <a:rPr dirty="0" sz="2400" lang="en-US"/>
              <a:t>R</a:t>
            </a:r>
            <a:r>
              <a:rPr dirty="0" sz="2400" lang="en-US"/>
              <a:t>T</a:t>
            </a:r>
            <a:r>
              <a:rPr dirty="0" sz="2400" lang="en-US"/>
              <a:t>S</a:t>
            </a:r>
            <a:r>
              <a:rPr dirty="0" sz="2400" lang="en-US"/>
              <a:t> </a:t>
            </a:r>
            <a:r>
              <a:rPr dirty="0" sz="2400" lang="en-US"/>
              <a:t>AND </a:t>
            </a:r>
            <a:r>
              <a:rPr dirty="0" sz="2400" lang="en-US"/>
              <a:t>SCIENCE </a:t>
            </a:r>
            <a:r>
              <a:rPr dirty="0" sz="2400" lang="en-US"/>
              <a:t>C</a:t>
            </a:r>
            <a:r>
              <a:rPr dirty="0" sz="2400" lang="en-US"/>
              <a:t>OLLEGE/ UNIVERSITY</a:t>
            </a:r>
            <a:r>
              <a:rPr dirty="0" sz="2400" lang="en-US"/>
              <a:t> </a:t>
            </a:r>
            <a:r>
              <a:rPr dirty="0" sz="2400" lang="en-US"/>
              <a:t>M</a:t>
            </a:r>
            <a:r>
              <a:rPr dirty="0" sz="2400" lang="en-US"/>
              <a:t>A</a:t>
            </a:r>
            <a:r>
              <a:rPr dirty="0" sz="2400" lang="en-US"/>
              <a:t>D</a:t>
            </a:r>
            <a:r>
              <a:rPr dirty="0" sz="2400" lang="en-US"/>
              <a:t>R</a:t>
            </a:r>
            <a:r>
              <a:rPr dirty="0" sz="2400" lang="en-US"/>
              <a:t>AS </a:t>
            </a:r>
            <a:endParaRPr altLang="en-US" lang="zh-CN"/>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5" name=""/>
        <p:cNvGrpSpPr/>
        <p:nvPr/>
      </p:nvGrpSpPr>
      <p:grpSpPr>
        <a:xfrm>
          <a:off x="0" y="0"/>
          <a:ext cx="0" cy="0"/>
          <a:chOff x="0" y="0"/>
          <a:chExt cx="0" cy="0"/>
        </a:xfrm>
      </p:grpSpPr>
      <p:sp>
        <p:nvSpPr>
          <p:cNvPr id="1048704" name=""/>
          <p:cNvSpPr txBox="1"/>
          <p:nvPr/>
        </p:nvSpPr>
        <p:spPr>
          <a:xfrm>
            <a:off x="4096000" y="3219450"/>
            <a:ext cx="4000000" cy="510540"/>
          </a:xfrm>
          <a:prstGeom prst="rect"/>
        </p:spPr>
        <p:txBody>
          <a:bodyPr rtlCol="0" wrap="square">
            <a:spAutoFit/>
          </a:bodyPr>
          <a:p>
            <a:r>
              <a:rPr sz="2800" lang="en-US">
                <a:solidFill>
                  <a:srgbClr val="000000"/>
                </a:solidFill>
              </a:rPr>
              <a:t/>
            </a:r>
            <a:endParaRPr sz="2800" lang="en-US">
              <a:solidFill>
                <a:srgbClr val="000000"/>
              </a:solidFill>
            </a:endParaRPr>
          </a:p>
        </p:txBody>
      </p:sp>
      <p:sp>
        <p:nvSpPr>
          <p:cNvPr id="1048610" name="object 2"/>
          <p:cNvSpPr/>
          <p:nvPr/>
        </p:nvSpPr>
        <p:spPr>
          <a:xfrm>
            <a:off x="-2371663" y="0"/>
            <a:ext cx="14178666"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latin typeface="Times New Roman" panose="02020603050405020304" pitchFamily="18" charset="0"/>
              <a:cs typeface="Times New Roman" panose="02020603050405020304" pitchFamily="18" charset="0"/>
            </a:endParaRPr>
          </a:p>
        </p:txBody>
      </p:sp>
      <p:grpSp>
        <p:nvGrpSpPr>
          <p:cNvPr id="26" name="object 3"/>
          <p:cNvGrpSpPr/>
          <p:nvPr/>
        </p:nvGrpSpPr>
        <p:grpSpPr>
          <a:xfrm>
            <a:off x="-264849" y="45486"/>
            <a:ext cx="12456849" cy="6858466"/>
            <a:chOff x="7448612" y="0"/>
            <a:chExt cx="4743796" cy="6858466"/>
          </a:xfrm>
        </p:grpSpPr>
        <p:sp>
          <p:nvSpPr>
            <p:cNvPr id="1048611"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a:endParaRPr b="0" sz="2800"/>
            </a:p>
          </p:txBody>
        </p:sp>
        <p:sp>
          <p:nvSpPr>
            <p:cNvPr id="1048612"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a:endParaRPr b="0" sz="2800"/>
            </a:p>
          </p:txBody>
        </p:sp>
        <p:sp>
          <p:nvSpPr>
            <p:cNvPr id="1048613"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a:endParaRPr b="0" sz="2800"/>
            </a:p>
          </p:txBody>
        </p:sp>
        <p:sp>
          <p:nvSpPr>
            <p:cNvPr id="1048614"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a:endParaRPr b="0" sz="2800"/>
            </a:p>
          </p:txBody>
        </p:sp>
        <p:sp>
          <p:nvSpPr>
            <p:cNvPr id="1048615"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a:endParaRPr b="0" sz="2800"/>
            </a:p>
          </p:txBody>
        </p:sp>
        <p:sp>
          <p:nvSpPr>
            <p:cNvPr id="1048616"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a:endParaRPr b="0" sz="2800"/>
            </a:p>
          </p:txBody>
        </p:sp>
        <p:sp>
          <p:nvSpPr>
            <p:cNvPr id="1048617"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a:endParaRPr b="0" sz="2800"/>
            </a:p>
          </p:txBody>
        </p:sp>
        <p:sp>
          <p:nvSpPr>
            <p:cNvPr id="1048618"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a:endParaRPr b="0" sz="2800"/>
            </a:p>
          </p:txBody>
        </p:sp>
        <p:sp>
          <p:nvSpPr>
            <p:cNvPr id="1048619" name="object 12"/>
            <p:cNvSpPr/>
            <p:nvPr/>
          </p:nvSpPr>
          <p:spPr>
            <a:xfrm>
              <a:off x="10372725" y="2431460"/>
              <a:ext cx="1819275" cy="4426540"/>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a:endParaRPr b="0" sz="2800"/>
            </a:p>
          </p:txBody>
        </p:sp>
      </p:grpSp>
      <p:sp>
        <p:nvSpPr>
          <p:cNvPr id="104862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4" name="object 17"/>
          <p:cNvSpPr txBox="1">
            <a:spLocks noGrp="1"/>
          </p:cNvSpPr>
          <p:nvPr>
            <p:ph type="title"/>
          </p:nvPr>
        </p:nvSpPr>
        <p:spPr>
          <a:xfrm>
            <a:off x="739775" y="829627"/>
            <a:ext cx="3909695" cy="6388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27"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5"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
        <p:nvSpPr>
          <p:cNvPr id="1048702" name=""/>
          <p:cNvSpPr txBox="1"/>
          <p:nvPr/>
        </p:nvSpPr>
        <p:spPr>
          <a:xfrm>
            <a:off x="1240254" y="2597150"/>
            <a:ext cx="4554618" cy="510540"/>
          </a:xfrm>
          <a:prstGeom prst="rect"/>
        </p:spPr>
        <p:txBody>
          <a:bodyPr rtlCol="0" wrap="square">
            <a:spAutoFit/>
          </a:bodyPr>
          <a:p>
            <a:r>
              <a:rPr sz="2800" lang="en-US">
                <a:solidFill>
                  <a:srgbClr val="000000"/>
                </a:solidFill>
              </a:rPr>
              <a:t>M</a:t>
            </a:r>
            <a:r>
              <a:rPr sz="2800" lang="en-US">
                <a:solidFill>
                  <a:srgbClr val="000000"/>
                </a:solidFill>
              </a:rPr>
              <a:t>a</a:t>
            </a:r>
            <a:r>
              <a:rPr sz="2800" lang="en-US">
                <a:solidFill>
                  <a:srgbClr val="000000"/>
                </a:solidFill>
              </a:rPr>
              <a:t>c</a:t>
            </a:r>
            <a:r>
              <a:rPr sz="2800" lang="en-US">
                <a:solidFill>
                  <a:srgbClr val="000000"/>
                </a:solidFill>
              </a:rPr>
              <a:t>hine </a:t>
            </a:r>
            <a:r>
              <a:rPr sz="2800" lang="en-US">
                <a:solidFill>
                  <a:srgbClr val="000000"/>
                </a:solidFill>
              </a:rPr>
              <a:t>learning </a:t>
            </a:r>
            <a:endParaRPr sz="2800" lang="en-US">
              <a:solidFill>
                <a:srgbClr val="000000"/>
              </a:solidFill>
            </a:endParaRPr>
          </a:p>
        </p:txBody>
      </p:sp>
      <p:sp>
        <p:nvSpPr>
          <p:cNvPr id="1048705" name=""/>
          <p:cNvSpPr txBox="1"/>
          <p:nvPr/>
        </p:nvSpPr>
        <p:spPr>
          <a:xfrm>
            <a:off x="4096000" y="3219450"/>
            <a:ext cx="4000000" cy="15179040"/>
          </a:xfrm>
          <a:prstGeom prst="rect"/>
        </p:spPr>
        <p:txBody>
          <a:bodyPr rtlCol="0" wrap="square">
            <a:spAutoFit/>
          </a:bodyPr>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r>
              <a:rPr sz="2800" lang="en-US">
                <a:solidFill>
                  <a:srgbClr val="000000"/>
                </a:solidFill>
              </a:rPr>
              <a:t/>
            </a:r>
            <a:endParaRPr sz="2800" lang="en-US">
              <a:solidFill>
                <a:srgbClr val="000000"/>
              </a:solidFill>
            </a:endParaRPr>
          </a:p>
        </p:txBody>
      </p:sp>
      <p:sp>
        <p:nvSpPr>
          <p:cNvPr id="1048714" name=""/>
          <p:cNvSpPr txBox="1"/>
          <p:nvPr/>
        </p:nvSpPr>
        <p:spPr>
          <a:xfrm>
            <a:off x="4096000" y="3219450"/>
            <a:ext cx="4000000" cy="10149839"/>
          </a:xfrm>
          <a:prstGeom prst="rect"/>
        </p:spPr>
        <p:txBody>
          <a:bodyPr rtlCol="0" wrap="square">
            <a:spAutoFit/>
          </a:bodyPr>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8" name=""/>
        <p:cNvGrpSpPr/>
        <p:nvPr/>
      </p:nvGrpSpPr>
      <p:grpSpPr>
        <a:xfrm>
          <a:off x="0" y="0"/>
          <a:ext cx="0" cy="0"/>
          <a:chOff x="0" y="0"/>
          <a:chExt cx="0" cy="0"/>
        </a:xfrm>
      </p:grpSpPr>
      <p:sp>
        <p:nvSpPr>
          <p:cNvPr id="1048626"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29" name="object 3"/>
          <p:cNvGrpSpPr/>
          <p:nvPr/>
        </p:nvGrpSpPr>
        <p:grpSpPr>
          <a:xfrm>
            <a:off x="7443849" y="0"/>
            <a:ext cx="4752975" cy="6863080"/>
            <a:chOff x="7443849" y="0"/>
            <a:chExt cx="4752975" cy="6863080"/>
          </a:xfrm>
        </p:grpSpPr>
        <p:sp>
          <p:nvSpPr>
            <p:cNvPr id="1048627"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8"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29"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0"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1"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2"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3"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4"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5"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6"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7"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38"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39"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0"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0" name="object 21"/>
          <p:cNvSpPr txBox="1">
            <a:spLocks noGrp="1"/>
          </p:cNvSpPr>
          <p:nvPr>
            <p:ph type="title"/>
          </p:nvPr>
        </p:nvSpPr>
        <p:spPr>
          <a:xfrm>
            <a:off x="739775" y="445388"/>
            <a:ext cx="2357120" cy="14611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41"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42" name="TextBox 22"/>
          <p:cNvSpPr txBox="1"/>
          <p:nvPr/>
        </p:nvSpPr>
        <p:spPr>
          <a:xfrm>
            <a:off x="2509807" y="1041533"/>
            <a:ext cx="5029200" cy="4701541"/>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Tools and Technologies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Features and Functionality</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Screenshots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dirty="0" sz="2800" lang="en-US" err="1">
                <a:solidFill>
                  <a:srgbClr val="0D0D0D"/>
                </a:solidFill>
                <a:latin typeface="Times New Roman" panose="02020603050405020304" pitchFamily="18" charset="0"/>
                <a:cs typeface="Times New Roman" panose="02020603050405020304" pitchFamily="18" charset="0"/>
              </a:rPr>
              <a:t>Github</a:t>
            </a:r>
            <a:r>
              <a:rPr dirty="0" sz="2800" lang="en-US">
                <a:solidFill>
                  <a:srgbClr val="0D0D0D"/>
                </a:solidFill>
                <a:latin typeface="Times New Roman" panose="02020603050405020304" pitchFamily="18" charset="0"/>
                <a:cs typeface="Times New Roman" panose="02020603050405020304" pitchFamily="18" charset="0"/>
              </a:rPr>
              <a:t> Link</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
        <p:nvSpPr>
          <p:cNvPr id="1048703" name=""/>
          <p:cNvSpPr txBox="1"/>
          <p:nvPr/>
        </p:nvSpPr>
        <p:spPr>
          <a:xfrm>
            <a:off x="4096000" y="3219450"/>
            <a:ext cx="4000000" cy="5958840"/>
          </a:xfrm>
          <a:prstGeom prst="rect"/>
        </p:spPr>
        <p:txBody>
          <a:bodyPr rtlCol="0" wrap="square">
            <a:spAutoFit/>
          </a:bodyPr>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endParaRPr sz="2800" lang="en-US">
              <a:solidFill>
                <a:srgbClr val="000000"/>
              </a:solidFill>
            </a:endParaRPr>
          </a:p>
          <a:p>
            <a:r>
              <a:rPr sz="2800" lang="en-US">
                <a:solidFill>
                  <a:srgbClr val="000000"/>
                </a:solidFill>
              </a:rPr>
              <a:t/>
            </a:r>
            <a:endParaRPr sz="2800" lang="en-US">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grpSp>
        <p:nvGrpSpPr>
          <p:cNvPr id="32" name="object 2"/>
          <p:cNvGrpSpPr/>
          <p:nvPr/>
        </p:nvGrpSpPr>
        <p:grpSpPr>
          <a:xfrm>
            <a:off x="7991475" y="2933700"/>
            <a:ext cx="2762250" cy="3257550"/>
            <a:chOff x="7991475" y="2933700"/>
            <a:chExt cx="2762250" cy="3257550"/>
          </a:xfrm>
        </p:grpSpPr>
        <p:sp>
          <p:nvSpPr>
            <p:cNvPr id="104864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4"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45"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6" name="object 7"/>
          <p:cNvSpPr txBox="1">
            <a:spLocks noGrp="1"/>
          </p:cNvSpPr>
          <p:nvPr>
            <p:ph type="title"/>
          </p:nvPr>
        </p:nvSpPr>
        <p:spPr>
          <a:xfrm>
            <a:off x="834072" y="575055"/>
            <a:ext cx="5636895" cy="12611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a:t>	</a:t>
            </a:r>
            <a:r>
              <a:rPr dirty="0" sz="4250" spc="10"/>
              <a:t>S</a:t>
            </a:r>
            <a:r>
              <a:rPr dirty="0" sz="4250" spc="-370"/>
              <a:t>T</a:t>
            </a:r>
            <a:r>
              <a:rPr dirty="0" sz="4250" spc="-375"/>
              <a:t>A</a:t>
            </a:r>
            <a:r>
              <a:rPr dirty="0" sz="4250" spc="15"/>
              <a:t>T</a:t>
            </a:r>
            <a:r>
              <a:rPr dirty="0" sz="4250" spc="-10"/>
              <a:t>E</a:t>
            </a:r>
            <a:r>
              <a:rPr dirty="0" sz="4250" spc="-20"/>
              <a:t>ME</a:t>
            </a:r>
            <a:r>
              <a:rPr dirty="0" sz="4250" spc="10"/>
              <a:t>NT</a:t>
            </a:r>
            <a:endParaRPr sz="4250"/>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7"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706" name=""/>
          <p:cNvSpPr txBox="1"/>
          <p:nvPr/>
        </p:nvSpPr>
        <p:spPr>
          <a:xfrm>
            <a:off x="834071" y="1918333"/>
            <a:ext cx="6813570" cy="3444241"/>
          </a:xfrm>
          <a:prstGeom prst="rect"/>
        </p:spPr>
        <p:txBody>
          <a:bodyPr rtlCol="0" wrap="square">
            <a:spAutoFit/>
          </a:bodyPr>
          <a:p>
            <a:r>
              <a:rPr sz="2800" lang="en-US">
                <a:solidFill>
                  <a:srgbClr val="000000"/>
                </a:solidFill>
              </a:rPr>
              <a:t>clear, concise description of a specific task or challenge that an ML model is intended to solve, defining the business objective, identifying the output (label) to be predicted from the available features (input variables), and specifying success metrics to evaluate the model's performance. </a:t>
            </a:r>
            <a:endParaRPr sz="2800" lang="en-US">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grpSp>
        <p:nvGrpSpPr>
          <p:cNvPr id="34" name="object 2"/>
          <p:cNvGrpSpPr/>
          <p:nvPr/>
        </p:nvGrpSpPr>
        <p:grpSpPr>
          <a:xfrm>
            <a:off x="8658225" y="2647950"/>
            <a:ext cx="3533775" cy="3810000"/>
            <a:chOff x="8658225" y="2647950"/>
            <a:chExt cx="3533775" cy="3810000"/>
          </a:xfrm>
        </p:grpSpPr>
        <p:sp>
          <p:nvSpPr>
            <p:cNvPr id="1048648"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9"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0"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1" name="object 7"/>
          <p:cNvSpPr txBox="1">
            <a:spLocks noGrp="1"/>
          </p:cNvSpPr>
          <p:nvPr>
            <p:ph type="title"/>
          </p:nvPr>
        </p:nvSpPr>
        <p:spPr>
          <a:xfrm>
            <a:off x="739775" y="829627"/>
            <a:ext cx="5263515" cy="6388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2"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53" name=""/>
          <p:cNvSpPr txBox="1"/>
          <p:nvPr/>
        </p:nvSpPr>
        <p:spPr>
          <a:xfrm>
            <a:off x="1004452" y="1695449"/>
            <a:ext cx="5279228" cy="3952240"/>
          </a:xfrm>
          <a:prstGeom prst="rect"/>
        </p:spPr>
        <p:txBody>
          <a:bodyPr rtlCol="0" wrap="square">
            <a:spAutoFit/>
          </a:bodyPr>
          <a:p>
            <a:r>
              <a:rPr sz="3200" lang="en-US">
                <a:solidFill>
                  <a:srgbClr val="000000"/>
                </a:solidFill>
              </a:rPr>
              <a:t>involves a cyclical process of defining a problem, collecting and preparing data, choosing and training an algorithm, and evaluating the model's performance before deploying it for real-world use. </a:t>
            </a:r>
            <a:endParaRPr sz="2800" lang="en-US">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54"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5"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6"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7" name="object 5"/>
          <p:cNvSpPr txBox="1">
            <a:spLocks noGrp="1"/>
          </p:cNvSpPr>
          <p:nvPr>
            <p:ph type="title"/>
          </p:nvPr>
        </p:nvSpPr>
        <p:spPr>
          <a:xfrm>
            <a:off x="699452" y="891793"/>
            <a:ext cx="5014595" cy="518159"/>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58"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707" name=""/>
          <p:cNvSpPr txBox="1"/>
          <p:nvPr/>
        </p:nvSpPr>
        <p:spPr>
          <a:xfrm>
            <a:off x="982210" y="2688774"/>
            <a:ext cx="6603154" cy="929640"/>
          </a:xfrm>
          <a:prstGeom prst="rect"/>
        </p:spPr>
        <p:txBody>
          <a:bodyPr rtlCol="0" wrap="square">
            <a:spAutoFit/>
          </a:bodyPr>
          <a:p>
            <a:r>
              <a:rPr sz="2800" lang="en-US">
                <a:solidFill>
                  <a:srgbClr val="000000"/>
                </a:solidFill>
              </a:rPr>
              <a:t>people define concepts that can be recognized by an intelligent system. </a:t>
            </a:r>
            <a:endParaRPr sz="2800" lang="en-US">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59"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0"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1"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2"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lang="en-IN" spc="10"/>
              <a:t>TOOLS AND TECHNIQUES</a:t>
            </a:r>
            <a:endParaRPr dirty="0" sz="3600"/>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3"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708" name=""/>
          <p:cNvSpPr txBox="1"/>
          <p:nvPr/>
        </p:nvSpPr>
        <p:spPr>
          <a:xfrm>
            <a:off x="3153726" y="1857375"/>
            <a:ext cx="6677999" cy="2606040"/>
          </a:xfrm>
          <a:prstGeom prst="rect"/>
        </p:spPr>
        <p:txBody>
          <a:bodyPr rtlCol="0" wrap="square">
            <a:spAutoFit/>
          </a:bodyPr>
          <a:p>
            <a:r>
              <a:rPr sz="2800" lang="en-US">
                <a:solidFill>
                  <a:srgbClr val="000000"/>
                </a:solidFill>
              </a:rPr>
              <a:t>libraries like TensorFlow and PyTorch for deep learning, Scikit-learn for general ML, and platforms like Google Colab, Amazon SageMaker, and Microsoft Azure ML for model development and deployment. </a:t>
            </a:r>
            <a:endParaRPr sz="2800" lang="en-US">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6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65"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66" name="object 8"/>
          <p:cNvSpPr txBox="1"/>
          <p:nvPr/>
        </p:nvSpPr>
        <p:spPr>
          <a:xfrm>
            <a:off x="739775" y="291147"/>
            <a:ext cx="8794750" cy="629018"/>
          </a:xfrm>
          <a:prstGeom prst="rect"/>
        </p:spPr>
        <p:txBody>
          <a:bodyPr bIns="0" lIns="0" rIns="0" rtlCol="0" tIns="13335" vert="horz" wrap="square">
            <a:spAutoFit/>
          </a:bodyPr>
          <a:p>
            <a:pPr marL="12700">
              <a:lnSpc>
                <a:spcPct val="100000"/>
              </a:lnSpc>
              <a:spcBef>
                <a:spcPts val="105"/>
              </a:spcBef>
            </a:pPr>
            <a:r>
              <a:rPr b="1" dirty="0" sz="4000" lang="en-IN" spc="15">
                <a:latin typeface="Trebuchet MS"/>
                <a:cs typeface="Trebuchet MS"/>
              </a:rPr>
              <a:t>POTFOLIO DESIGN AND LAYOUT</a:t>
            </a:r>
            <a:endParaRPr dirty="0" sz="4000">
              <a:latin typeface="Trebuchet MS"/>
              <a:cs typeface="Trebuchet MS"/>
            </a:endParaRPr>
          </a:p>
        </p:txBody>
      </p:sp>
      <p:sp>
        <p:nvSpPr>
          <p:cNvPr id="1048667"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709" name=""/>
          <p:cNvSpPr txBox="1"/>
          <p:nvPr/>
        </p:nvSpPr>
        <p:spPr>
          <a:xfrm>
            <a:off x="929373" y="2080259"/>
            <a:ext cx="6889786" cy="1348740"/>
          </a:xfrm>
          <a:prstGeom prst="rect"/>
        </p:spPr>
        <p:txBody>
          <a:bodyPr rtlCol="0" wrap="square">
            <a:spAutoFit/>
          </a:bodyPr>
          <a:p>
            <a:r>
              <a:rPr sz="2800" lang="en-US">
                <a:solidFill>
                  <a:srgbClr val="000000"/>
                </a:solidFill>
              </a:rPr>
              <a:t>emphasizes real-world application with a clean, professional design and excellent user navigation. </a:t>
            </a:r>
            <a:endParaRPr sz="2800" lang="en-US">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68" name="Title 1"/>
          <p:cNvSpPr>
            <a:spLocks noGrp="1"/>
          </p:cNvSpPr>
          <p:nvPr>
            <p:ph type="title"/>
          </p:nvPr>
        </p:nvSpPr>
        <p:spPr>
          <a:xfrm>
            <a:off x="755332" y="385444"/>
            <a:ext cx="10681335" cy="723901"/>
          </a:xfrm>
        </p:spPr>
        <p:txBody>
          <a:bodyPr/>
          <a:p>
            <a:r>
              <a:rPr dirty="0" lang="en-IN"/>
              <a:t>FEATURES AND FUNCTIONALITY</a:t>
            </a:r>
          </a:p>
        </p:txBody>
      </p:sp>
      <p:sp>
        <p:nvSpPr>
          <p:cNvPr id="1048710" name=""/>
          <p:cNvSpPr txBox="1"/>
          <p:nvPr/>
        </p:nvSpPr>
        <p:spPr>
          <a:xfrm>
            <a:off x="1119753" y="1781904"/>
            <a:ext cx="7359209" cy="2606040"/>
          </a:xfrm>
          <a:prstGeom prst="rect"/>
        </p:spPr>
        <p:txBody>
          <a:bodyPr rtlCol="0" wrap="square">
            <a:spAutoFit/>
          </a:bodyPr>
          <a:p>
            <a:r>
              <a:rPr sz="2800" lang="en-US">
                <a:solidFill>
                  <a:srgbClr val="000000"/>
                </a:solidFill>
              </a:rPr>
              <a:t>algorithms (like regression and neural networks), data (raw data, features, and labels), feature engineering (transforming data into meaningful inputs), and learning types (supervised, unsupervised, and reinforcement). </a:t>
            </a:r>
            <a:endParaRPr sz="2800" lang="en-US">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69"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7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1"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2"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73" name="object 7"/>
          <p:cNvSpPr txBox="1">
            <a:spLocks noGrp="1"/>
          </p:cNvSpPr>
          <p:nvPr>
            <p:ph type="title"/>
          </p:nvPr>
        </p:nvSpPr>
        <p:spPr>
          <a:xfrm>
            <a:off x="739775" y="654938"/>
            <a:ext cx="8480425" cy="638810"/>
          </a:xfrm>
          <a:prstGeom prst="rect"/>
        </p:spPr>
        <p:txBody>
          <a:bodyPr bIns="0" lIns="0" rIns="0" rtlCol="0" tIns="16510" vert="horz" wrap="square">
            <a:spAutoFit/>
          </a:bodyPr>
          <a:p>
            <a:pPr marL="12700">
              <a:lnSpc>
                <a:spcPct val="100000"/>
              </a:lnSpc>
              <a:spcBef>
                <a:spcPts val="130"/>
              </a:spcBef>
            </a:pPr>
            <a:r>
              <a:rPr dirty="0" sz="4250" lang="en-IN" spc="15"/>
              <a:t>RESULTS AND SCREENSHOTS</a:t>
            </a:r>
            <a:endParaRPr dirty="0" sz="4250"/>
          </a:p>
        </p:txBody>
      </p:sp>
      <p:sp>
        <p:nvSpPr>
          <p:cNvPr id="1048674"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75" name="TextBox 8"/>
          <p:cNvSpPr txBox="1"/>
          <p:nvPr/>
        </p:nvSpPr>
        <p:spPr>
          <a:xfrm>
            <a:off x="2743200" y="2354703"/>
            <a:ext cx="8534018" cy="954107"/>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
        <p:nvSpPr>
          <p:cNvPr id="1048713" name=""/>
          <p:cNvSpPr txBox="1"/>
          <p:nvPr/>
        </p:nvSpPr>
        <p:spPr>
          <a:xfrm>
            <a:off x="2743200" y="2019300"/>
            <a:ext cx="4405868" cy="2186941"/>
          </a:xfrm>
          <a:prstGeom prst="rect"/>
        </p:spPr>
        <p:txBody>
          <a:bodyPr rtlCol="0" wrap="square">
            <a:spAutoFit/>
          </a:bodyPr>
          <a:p>
            <a:endParaRPr sz="2800" lang="en-US">
              <a:solidFill>
                <a:srgbClr val="000000"/>
              </a:solidFill>
            </a:endParaRPr>
          </a:p>
          <a:p>
            <a:r>
              <a:rPr sz="2800" lang="en-US">
                <a:solidFill>
                  <a:srgbClr val="000000"/>
                </a:solidFill>
              </a:rPr>
              <a:t>screenshots of these plots being a common way to share and understand the outcomes of ML models, </a:t>
            </a:r>
            <a:endParaRPr sz="2800" lang="en-US">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76"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7"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7"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79" name="object 7"/>
          <p:cNvSpPr txBox="1">
            <a:spLocks noGrp="1"/>
          </p:cNvSpPr>
          <p:nvPr>
            <p:ph type="title"/>
          </p:nvPr>
        </p:nvSpPr>
        <p:spPr>
          <a:xfrm>
            <a:off x="755332" y="385444"/>
            <a:ext cx="4578668" cy="752129"/>
          </a:xfrm>
          <a:prstGeom prst="rect"/>
        </p:spPr>
        <p:txBody>
          <a:bodyPr bIns="0" lIns="0" rIns="0" rtlCol="0" tIns="13335" vert="horz" wrap="square">
            <a:spAutoFit/>
          </a:bodyPr>
          <a:p>
            <a:pPr marL="12700">
              <a:lnSpc>
                <a:spcPct val="100000"/>
              </a:lnSpc>
              <a:spcBef>
                <a:spcPts val="105"/>
              </a:spcBef>
            </a:pPr>
            <a:r>
              <a:rPr dirty="0" lang="en-IN"/>
              <a:t>CONCLUSION</a:t>
            </a:r>
            <a:endParaRPr dirty="0"/>
          </a:p>
        </p:txBody>
      </p:sp>
      <p:sp>
        <p:nvSpPr>
          <p:cNvPr id="1048680"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681" name=""/>
          <p:cNvSpPr txBox="1"/>
          <p:nvPr/>
        </p:nvSpPr>
        <p:spPr>
          <a:xfrm rot="21600000">
            <a:off x="1194525" y="1425532"/>
            <a:ext cx="6229291" cy="3393440"/>
          </a:xfrm>
          <a:prstGeom prst="rect"/>
        </p:spPr>
        <p:txBody>
          <a:bodyPr rtlCol="0" wrap="square">
            <a:spAutoFit/>
          </a:bodyPr>
          <a:p>
            <a:r>
              <a:rPr sz="4400" lang="en-US">
                <a:solidFill>
                  <a:srgbClr val="000000"/>
                </a:solidFill>
              </a:rPr>
              <a:t>machine learning is a rapidly evolving field with the potential to revolutionize industries across the board</a:t>
            </a:r>
            <a:endParaRPr sz="2800" lang="en-US">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Nanthini Mohan</cp:lastModifiedBy>
  <dcterms:created xsi:type="dcterms:W3CDTF">2024-03-27T08:07:22Z</dcterms:created>
  <dcterms:modified xsi:type="dcterms:W3CDTF">2025-09-19T12:14:34Z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0d349112a4484ec5bb031d772ff4de68</vt:lpwstr>
  </property>
</Properties>
</file>